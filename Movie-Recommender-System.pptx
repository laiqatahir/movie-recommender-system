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Roboto" panose="02000000000000000000" pitchFamily="2" charset="0"/>
      <p:regular r:id="rId11"/>
    </p:embeddedFont>
    <p:embeddedFont>
      <p:font typeface="Roboto Bold" panose="020B0604020202020204" charset="0"/>
      <p:regular r:id="rId12"/>
    </p:embeddedFont>
    <p:embeddedFont>
      <p:font typeface="Roboto Slab" pitchFamily="2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25.08.2026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F1F8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CFE"/>
            </a:solidFill>
          </p:spPr>
        </p:sp>
      </p:grpSp>
      <p:sp>
        <p:nvSpPr>
          <p:cNvPr id="6" name="Freeform 6" descr="preencoded.png"/>
          <p:cNvSpPr/>
          <p:nvPr/>
        </p:nvSpPr>
        <p:spPr>
          <a:xfrm>
            <a:off x="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7850237" y="2272904"/>
            <a:ext cx="9445526" cy="1771947"/>
            <a:chOff x="0" y="0"/>
            <a:chExt cx="12594035" cy="236259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594035" cy="2362597"/>
            </a:xfrm>
            <a:custGeom>
              <a:avLst/>
              <a:gdLst/>
              <a:ahLst/>
              <a:cxnLst/>
              <a:rect l="l" t="t" r="r" b="b"/>
              <a:pathLst>
                <a:path w="12594035" h="2362597">
                  <a:moveTo>
                    <a:pt x="0" y="0"/>
                  </a:moveTo>
                  <a:lnTo>
                    <a:pt x="12594035" y="0"/>
                  </a:lnTo>
                  <a:lnTo>
                    <a:pt x="12594035" y="2362597"/>
                  </a:lnTo>
                  <a:lnTo>
                    <a:pt x="0" y="23625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12594035" cy="238164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3257B8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Movie Recommender System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850237" y="4470052"/>
            <a:ext cx="9445526" cy="453629"/>
            <a:chOff x="0" y="0"/>
            <a:chExt cx="12594035" cy="60483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594035" cy="604838"/>
            </a:xfrm>
            <a:custGeom>
              <a:avLst/>
              <a:gdLst/>
              <a:ahLst/>
              <a:cxnLst/>
              <a:rect l="l" t="t" r="r" b="b"/>
              <a:pathLst>
                <a:path w="12594035" h="604838">
                  <a:moveTo>
                    <a:pt x="0" y="0"/>
                  </a:moveTo>
                  <a:lnTo>
                    <a:pt x="12594035" y="0"/>
                  </a:lnTo>
                  <a:lnTo>
                    <a:pt x="12594035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95250"/>
              <a:ext cx="12594035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 b="1">
                  <a:solidFill>
                    <a:srgbClr val="15213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Presented by:</a:t>
              </a:r>
              <a:r>
                <a:rPr lang="en-US" sz="2187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850237" y="5242620"/>
            <a:ext cx="9445526" cy="453629"/>
            <a:chOff x="0" y="0"/>
            <a:chExt cx="12594035" cy="60483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594035" cy="604838"/>
            </a:xfrm>
            <a:custGeom>
              <a:avLst/>
              <a:gdLst/>
              <a:ahLst/>
              <a:cxnLst/>
              <a:rect l="l" t="t" r="r" b="b"/>
              <a:pathLst>
                <a:path w="12594035" h="604838">
                  <a:moveTo>
                    <a:pt x="0" y="0"/>
                  </a:moveTo>
                  <a:lnTo>
                    <a:pt x="12594035" y="0"/>
                  </a:lnTo>
                  <a:lnTo>
                    <a:pt x="12594035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95250"/>
              <a:ext cx="12594035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Laiqa Tahir Khan (22-CP-02)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850237" y="6015186"/>
            <a:ext cx="9445526" cy="453629"/>
            <a:chOff x="0" y="0"/>
            <a:chExt cx="12594035" cy="60483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594035" cy="604838"/>
            </a:xfrm>
            <a:custGeom>
              <a:avLst/>
              <a:gdLst/>
              <a:ahLst/>
              <a:cxnLst/>
              <a:rect l="l" t="t" r="r" b="b"/>
              <a:pathLst>
                <a:path w="12594035" h="604838">
                  <a:moveTo>
                    <a:pt x="0" y="0"/>
                  </a:moveTo>
                  <a:lnTo>
                    <a:pt x="12594035" y="0"/>
                  </a:lnTo>
                  <a:lnTo>
                    <a:pt x="12594035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95250"/>
              <a:ext cx="12594035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Muhammad Saffi Ul Haq (22-CP-78)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850237" y="6787754"/>
            <a:ext cx="9445526" cy="453629"/>
            <a:chOff x="0" y="0"/>
            <a:chExt cx="12594035" cy="60483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594035" cy="604838"/>
            </a:xfrm>
            <a:custGeom>
              <a:avLst/>
              <a:gdLst/>
              <a:ahLst/>
              <a:cxnLst/>
              <a:rect l="l" t="t" r="r" b="b"/>
              <a:pathLst>
                <a:path w="12594035" h="604838">
                  <a:moveTo>
                    <a:pt x="0" y="0"/>
                  </a:moveTo>
                  <a:lnTo>
                    <a:pt x="12594035" y="0"/>
                  </a:lnTo>
                  <a:lnTo>
                    <a:pt x="12594035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95250"/>
              <a:ext cx="12594035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 b="1">
                  <a:solidFill>
                    <a:srgbClr val="15213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Presented to:</a:t>
              </a:r>
              <a:r>
                <a:rPr lang="en-US" sz="2187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 Engr. Mona Waseem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850237" y="7560320"/>
            <a:ext cx="9445526" cy="453629"/>
            <a:chOff x="0" y="0"/>
            <a:chExt cx="12594035" cy="60483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2594035" cy="604838"/>
            </a:xfrm>
            <a:custGeom>
              <a:avLst/>
              <a:gdLst/>
              <a:ahLst/>
              <a:cxnLst/>
              <a:rect l="l" t="t" r="r" b="b"/>
              <a:pathLst>
                <a:path w="12594035" h="604838">
                  <a:moveTo>
                    <a:pt x="0" y="0"/>
                  </a:moveTo>
                  <a:lnTo>
                    <a:pt x="12594035" y="0"/>
                  </a:lnTo>
                  <a:lnTo>
                    <a:pt x="12594035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95250"/>
              <a:ext cx="12594035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 b="1">
                  <a:solidFill>
                    <a:srgbClr val="15213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Date:</a:t>
              </a:r>
              <a:r>
                <a:rPr lang="en-US" sz="2187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 May 06, 2025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F1F8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CFE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2237" y="3153816"/>
            <a:ext cx="10279186" cy="1089250"/>
            <a:chOff x="0" y="0"/>
            <a:chExt cx="13705581" cy="1452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705580" cy="1452333"/>
            </a:xfrm>
            <a:custGeom>
              <a:avLst/>
              <a:gdLst/>
              <a:ahLst/>
              <a:cxnLst/>
              <a:rect l="l" t="t" r="r" b="b"/>
              <a:pathLst>
                <a:path w="13705580" h="1452333">
                  <a:moveTo>
                    <a:pt x="0" y="0"/>
                  </a:moveTo>
                  <a:lnTo>
                    <a:pt x="13705580" y="0"/>
                  </a:lnTo>
                  <a:lnTo>
                    <a:pt x="13705580" y="1452333"/>
                  </a:lnTo>
                  <a:lnTo>
                    <a:pt x="0" y="14523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3705581" cy="147138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3257B8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Project Overview and Tools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92238" y="4748510"/>
            <a:ext cx="3544044" cy="442912"/>
            <a:chOff x="0" y="0"/>
            <a:chExt cx="4725392" cy="5905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4725392" cy="6096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3257B8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Objective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92238" y="5474940"/>
            <a:ext cx="7805886" cy="453629"/>
            <a:chOff x="0" y="0"/>
            <a:chExt cx="10407848" cy="60483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407848" cy="604838"/>
            </a:xfrm>
            <a:custGeom>
              <a:avLst/>
              <a:gdLst/>
              <a:ahLst/>
              <a:cxnLst/>
              <a:rect l="l" t="t" r="r" b="b"/>
              <a:pathLst>
                <a:path w="10407848" h="604838">
                  <a:moveTo>
                    <a:pt x="0" y="0"/>
                  </a:moveTo>
                  <a:lnTo>
                    <a:pt x="10407848" y="0"/>
                  </a:lnTo>
                  <a:lnTo>
                    <a:pt x="1040784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0"/>
              <a:ext cx="10407848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Suggest similar movies using content-based filtering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92238" y="6027687"/>
            <a:ext cx="7805886" cy="453629"/>
            <a:chOff x="0" y="0"/>
            <a:chExt cx="10407848" cy="60483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407848" cy="604838"/>
            </a:xfrm>
            <a:custGeom>
              <a:avLst/>
              <a:gdLst/>
              <a:ahLst/>
              <a:cxnLst/>
              <a:rect l="l" t="t" r="r" b="b"/>
              <a:pathLst>
                <a:path w="10407848" h="604838">
                  <a:moveTo>
                    <a:pt x="0" y="0"/>
                  </a:moveTo>
                  <a:lnTo>
                    <a:pt x="10407848" y="0"/>
                  </a:lnTo>
                  <a:lnTo>
                    <a:pt x="1040784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0"/>
              <a:ext cx="10407848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Apply NLP on movie metadata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92238" y="6580435"/>
            <a:ext cx="7805886" cy="453629"/>
            <a:chOff x="0" y="0"/>
            <a:chExt cx="10407848" cy="60483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407848" cy="604838"/>
            </a:xfrm>
            <a:custGeom>
              <a:avLst/>
              <a:gdLst/>
              <a:ahLst/>
              <a:cxnLst/>
              <a:rect l="l" t="t" r="r" b="b"/>
              <a:pathLst>
                <a:path w="10407848" h="604838">
                  <a:moveTo>
                    <a:pt x="0" y="0"/>
                  </a:moveTo>
                  <a:lnTo>
                    <a:pt x="10407848" y="0"/>
                  </a:lnTo>
                  <a:lnTo>
                    <a:pt x="1040784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95250"/>
              <a:ext cx="10407848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Deploy via Streamlit web app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99401" y="4748510"/>
            <a:ext cx="3544044" cy="442912"/>
            <a:chOff x="0" y="0"/>
            <a:chExt cx="4725392" cy="59055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4725392" cy="6096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3257B8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Technologies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99401" y="5474940"/>
            <a:ext cx="7805886" cy="453629"/>
            <a:chOff x="0" y="0"/>
            <a:chExt cx="10407848" cy="60483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407848" cy="604838"/>
            </a:xfrm>
            <a:custGeom>
              <a:avLst/>
              <a:gdLst/>
              <a:ahLst/>
              <a:cxnLst/>
              <a:rect l="l" t="t" r="r" b="b"/>
              <a:pathLst>
                <a:path w="10407848" h="604838">
                  <a:moveTo>
                    <a:pt x="0" y="0"/>
                  </a:moveTo>
                  <a:lnTo>
                    <a:pt x="10407848" y="0"/>
                  </a:lnTo>
                  <a:lnTo>
                    <a:pt x="1040784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95250"/>
              <a:ext cx="10407848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Python, Pandas, Scikit-learn, NLTK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99401" y="6027687"/>
            <a:ext cx="7805886" cy="453629"/>
            <a:chOff x="0" y="0"/>
            <a:chExt cx="10407848" cy="60483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407848" cy="604838"/>
            </a:xfrm>
            <a:custGeom>
              <a:avLst/>
              <a:gdLst/>
              <a:ahLst/>
              <a:cxnLst/>
              <a:rect l="l" t="t" r="r" b="b"/>
              <a:pathLst>
                <a:path w="10407848" h="604838">
                  <a:moveTo>
                    <a:pt x="0" y="0"/>
                  </a:moveTo>
                  <a:lnTo>
                    <a:pt x="10407848" y="0"/>
                  </a:lnTo>
                  <a:lnTo>
                    <a:pt x="1040784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95250"/>
              <a:ext cx="10407848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Streamlit for front-end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499401" y="6580435"/>
            <a:ext cx="7805886" cy="453629"/>
            <a:chOff x="0" y="0"/>
            <a:chExt cx="10407848" cy="60483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407848" cy="604838"/>
            </a:xfrm>
            <a:custGeom>
              <a:avLst/>
              <a:gdLst/>
              <a:ahLst/>
              <a:cxnLst/>
              <a:rect l="l" t="t" r="r" b="b"/>
              <a:pathLst>
                <a:path w="10407848" h="604838">
                  <a:moveTo>
                    <a:pt x="0" y="0"/>
                  </a:moveTo>
                  <a:lnTo>
                    <a:pt x="10407848" y="0"/>
                  </a:lnTo>
                  <a:lnTo>
                    <a:pt x="1040784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95250"/>
              <a:ext cx="10407848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TMDB 5000 Movies Dataset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F1F8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CFE"/>
            </a:solidFill>
          </p:spPr>
        </p:sp>
      </p:grpSp>
      <p:sp>
        <p:nvSpPr>
          <p:cNvPr id="6" name="Freeform 6" descr="preencoded.png"/>
          <p:cNvSpPr/>
          <p:nvPr/>
        </p:nvSpPr>
        <p:spPr>
          <a:xfrm>
            <a:off x="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7850237" y="1984474"/>
            <a:ext cx="7088237" cy="885974"/>
            <a:chOff x="0" y="0"/>
            <a:chExt cx="9450983" cy="118129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450984" cy="1181298"/>
            </a:xfrm>
            <a:custGeom>
              <a:avLst/>
              <a:gdLst/>
              <a:ahLst/>
              <a:cxnLst/>
              <a:rect l="l" t="t" r="r" b="b"/>
              <a:pathLst>
                <a:path w="9450984" h="1181298">
                  <a:moveTo>
                    <a:pt x="0" y="0"/>
                  </a:moveTo>
                  <a:lnTo>
                    <a:pt x="9450984" y="0"/>
                  </a:lnTo>
                  <a:lnTo>
                    <a:pt x="9450984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9450983" cy="12003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3257B8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Dataset Description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850237" y="3295650"/>
            <a:ext cx="637877" cy="637878"/>
            <a:chOff x="0" y="0"/>
            <a:chExt cx="850503" cy="85050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50392" cy="850519"/>
            </a:xfrm>
            <a:custGeom>
              <a:avLst/>
              <a:gdLst/>
              <a:ahLst/>
              <a:cxnLst/>
              <a:rect l="l" t="t" r="r" b="b"/>
              <a:pathLst>
                <a:path w="850392" h="85051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E9ECF2"/>
            </a:solidFill>
          </p:spPr>
        </p:sp>
      </p:grpSp>
      <p:sp>
        <p:nvSpPr>
          <p:cNvPr id="12" name="Freeform 12" descr="preencoded.png"/>
          <p:cNvSpPr/>
          <p:nvPr/>
        </p:nvSpPr>
        <p:spPr>
          <a:xfrm>
            <a:off x="7956575" y="3348781"/>
            <a:ext cx="425203" cy="531614"/>
          </a:xfrm>
          <a:custGeom>
            <a:avLst/>
            <a:gdLst/>
            <a:ahLst/>
            <a:cxnLst/>
            <a:rect l="l" t="t" r="r" b="b"/>
            <a:pathLst>
              <a:path w="425203" h="531614">
                <a:moveTo>
                  <a:pt x="0" y="0"/>
                </a:moveTo>
                <a:lnTo>
                  <a:pt x="425203" y="0"/>
                </a:lnTo>
                <a:lnTo>
                  <a:pt x="425203" y="531614"/>
                </a:lnTo>
                <a:lnTo>
                  <a:pt x="0" y="5316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3" r="-233"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8771632" y="3392984"/>
            <a:ext cx="3544044" cy="442912"/>
            <a:chOff x="0" y="0"/>
            <a:chExt cx="4725392" cy="5905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4725392" cy="6096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15213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Datasets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771632" y="4006006"/>
            <a:ext cx="3624262" cy="907256"/>
            <a:chOff x="0" y="0"/>
            <a:chExt cx="4832350" cy="120967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832350" cy="1209675"/>
            </a:xfrm>
            <a:custGeom>
              <a:avLst/>
              <a:gdLst/>
              <a:ahLst/>
              <a:cxnLst/>
              <a:rect l="l" t="t" r="r" b="b"/>
              <a:pathLst>
                <a:path w="4832350" h="1209675">
                  <a:moveTo>
                    <a:pt x="0" y="0"/>
                  </a:moveTo>
                  <a:lnTo>
                    <a:pt x="4832350" y="0"/>
                  </a:lnTo>
                  <a:lnTo>
                    <a:pt x="4832350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95250"/>
              <a:ext cx="4832350" cy="130492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tmdb_5000_movies.csv and tmdb_5000_credits.csv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750254" y="3295650"/>
            <a:ext cx="637877" cy="637878"/>
            <a:chOff x="0" y="0"/>
            <a:chExt cx="850503" cy="85050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50392" cy="850519"/>
            </a:xfrm>
            <a:custGeom>
              <a:avLst/>
              <a:gdLst/>
              <a:ahLst/>
              <a:cxnLst/>
              <a:rect l="l" t="t" r="r" b="b"/>
              <a:pathLst>
                <a:path w="850392" h="85051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E9ECF2"/>
            </a:solidFill>
          </p:spPr>
        </p:sp>
      </p:grpSp>
      <p:sp>
        <p:nvSpPr>
          <p:cNvPr id="21" name="Freeform 21" descr="preencoded.png"/>
          <p:cNvSpPr/>
          <p:nvPr/>
        </p:nvSpPr>
        <p:spPr>
          <a:xfrm>
            <a:off x="12856592" y="3348781"/>
            <a:ext cx="425203" cy="531614"/>
          </a:xfrm>
          <a:custGeom>
            <a:avLst/>
            <a:gdLst/>
            <a:ahLst/>
            <a:cxnLst/>
            <a:rect l="l" t="t" r="r" b="b"/>
            <a:pathLst>
              <a:path w="425203" h="531614">
                <a:moveTo>
                  <a:pt x="0" y="0"/>
                </a:moveTo>
                <a:lnTo>
                  <a:pt x="425203" y="0"/>
                </a:lnTo>
                <a:lnTo>
                  <a:pt x="425203" y="531614"/>
                </a:lnTo>
                <a:lnTo>
                  <a:pt x="0" y="531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33" r="-233"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13671649" y="3392984"/>
            <a:ext cx="3544044" cy="442912"/>
            <a:chOff x="0" y="0"/>
            <a:chExt cx="4725392" cy="59055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4725392" cy="6096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15213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Key Features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3671649" y="4006007"/>
            <a:ext cx="3624262" cy="453630"/>
            <a:chOff x="0" y="0"/>
            <a:chExt cx="4832350" cy="60484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832350" cy="604840"/>
            </a:xfrm>
            <a:custGeom>
              <a:avLst/>
              <a:gdLst/>
              <a:ahLst/>
              <a:cxnLst/>
              <a:rect l="l" t="t" r="r" b="b"/>
              <a:pathLst>
                <a:path w="4832350" h="604840">
                  <a:moveTo>
                    <a:pt x="0" y="0"/>
                  </a:moveTo>
                  <a:lnTo>
                    <a:pt x="4832350" y="0"/>
                  </a:lnTo>
                  <a:lnTo>
                    <a:pt x="4832350" y="604840"/>
                  </a:lnTo>
                  <a:lnTo>
                    <a:pt x="0" y="6048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95250"/>
              <a:ext cx="4832350" cy="70009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Plot summary (Overview)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3671649" y="4558756"/>
            <a:ext cx="3624262" cy="453629"/>
            <a:chOff x="0" y="0"/>
            <a:chExt cx="4832350" cy="60483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832350" cy="604838"/>
            </a:xfrm>
            <a:custGeom>
              <a:avLst/>
              <a:gdLst/>
              <a:ahLst/>
              <a:cxnLst/>
              <a:rect l="l" t="t" r="r" b="b"/>
              <a:pathLst>
                <a:path w="4832350" h="604838">
                  <a:moveTo>
                    <a:pt x="0" y="0"/>
                  </a:moveTo>
                  <a:lnTo>
                    <a:pt x="4832350" y="0"/>
                  </a:lnTo>
                  <a:lnTo>
                    <a:pt x="4832350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95250"/>
              <a:ext cx="4832350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Genres and keywords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3671649" y="5111501"/>
            <a:ext cx="3624262" cy="453629"/>
            <a:chOff x="0" y="0"/>
            <a:chExt cx="4832350" cy="60483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832350" cy="604838"/>
            </a:xfrm>
            <a:custGeom>
              <a:avLst/>
              <a:gdLst/>
              <a:ahLst/>
              <a:cxnLst/>
              <a:rect l="l" t="t" r="r" b="b"/>
              <a:pathLst>
                <a:path w="4832350" h="604838">
                  <a:moveTo>
                    <a:pt x="0" y="0"/>
                  </a:moveTo>
                  <a:lnTo>
                    <a:pt x="4832350" y="0"/>
                  </a:lnTo>
                  <a:lnTo>
                    <a:pt x="4832350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95250"/>
              <a:ext cx="4832350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Top 3 cast actors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3671649" y="5666035"/>
            <a:ext cx="3624262" cy="453629"/>
            <a:chOff x="0" y="0"/>
            <a:chExt cx="4832350" cy="60483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832350" cy="604838"/>
            </a:xfrm>
            <a:custGeom>
              <a:avLst/>
              <a:gdLst/>
              <a:ahLst/>
              <a:cxnLst/>
              <a:rect l="l" t="t" r="r" b="b"/>
              <a:pathLst>
                <a:path w="4832350" h="604838">
                  <a:moveTo>
                    <a:pt x="0" y="0"/>
                  </a:moveTo>
                  <a:lnTo>
                    <a:pt x="4832350" y="0"/>
                  </a:lnTo>
                  <a:lnTo>
                    <a:pt x="4832350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95250"/>
              <a:ext cx="4832350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Director (Crew)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850237" y="6416645"/>
            <a:ext cx="637877" cy="637877"/>
            <a:chOff x="0" y="0"/>
            <a:chExt cx="850503" cy="850503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50392" cy="850519"/>
            </a:xfrm>
            <a:custGeom>
              <a:avLst/>
              <a:gdLst/>
              <a:ahLst/>
              <a:cxnLst/>
              <a:rect l="l" t="t" r="r" b="b"/>
              <a:pathLst>
                <a:path w="850392" h="85051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E9ECF2"/>
            </a:solidFill>
          </p:spPr>
        </p:sp>
      </p:grpSp>
      <p:sp>
        <p:nvSpPr>
          <p:cNvPr id="39" name="Freeform 39" descr="preencoded.png"/>
          <p:cNvSpPr/>
          <p:nvPr/>
        </p:nvSpPr>
        <p:spPr>
          <a:xfrm>
            <a:off x="7956575" y="6469776"/>
            <a:ext cx="425203" cy="531614"/>
          </a:xfrm>
          <a:custGeom>
            <a:avLst/>
            <a:gdLst/>
            <a:ahLst/>
            <a:cxnLst/>
            <a:rect l="l" t="t" r="r" b="b"/>
            <a:pathLst>
              <a:path w="425203" h="531614">
                <a:moveTo>
                  <a:pt x="0" y="0"/>
                </a:moveTo>
                <a:lnTo>
                  <a:pt x="425203" y="0"/>
                </a:lnTo>
                <a:lnTo>
                  <a:pt x="425203" y="531614"/>
                </a:lnTo>
                <a:lnTo>
                  <a:pt x="0" y="531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33" r="-233"/>
            </a:stretch>
          </a:blipFill>
        </p:spPr>
      </p:sp>
      <p:grpSp>
        <p:nvGrpSpPr>
          <p:cNvPr id="40" name="Group 40"/>
          <p:cNvGrpSpPr/>
          <p:nvPr/>
        </p:nvGrpSpPr>
        <p:grpSpPr>
          <a:xfrm>
            <a:off x="8771632" y="6513979"/>
            <a:ext cx="3544044" cy="442912"/>
            <a:chOff x="0" y="0"/>
            <a:chExt cx="4725392" cy="59055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19050"/>
              <a:ext cx="4725392" cy="6096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15213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Selection Reason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771632" y="7054522"/>
            <a:ext cx="8524131" cy="453629"/>
            <a:chOff x="0" y="0"/>
            <a:chExt cx="11365508" cy="604838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1365509" cy="604838"/>
            </a:xfrm>
            <a:custGeom>
              <a:avLst/>
              <a:gdLst/>
              <a:ahLst/>
              <a:cxnLst/>
              <a:rect l="l" t="t" r="r" b="b"/>
              <a:pathLst>
                <a:path w="11365509" h="604838">
                  <a:moveTo>
                    <a:pt x="0" y="0"/>
                  </a:moveTo>
                  <a:lnTo>
                    <a:pt x="11365509" y="0"/>
                  </a:lnTo>
                  <a:lnTo>
                    <a:pt x="11365509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0" y="-95250"/>
              <a:ext cx="11365508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Best represent movie content for recommendations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F1F8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CFE"/>
            </a:solidFill>
          </p:spPr>
        </p:sp>
      </p:grpSp>
      <p:sp>
        <p:nvSpPr>
          <p:cNvPr id="6" name="Freeform 6" descr="preencoded.png"/>
          <p:cNvSpPr/>
          <p:nvPr/>
        </p:nvSpPr>
        <p:spPr>
          <a:xfrm>
            <a:off x="10019632" y="664806"/>
            <a:ext cx="4222619" cy="8957386"/>
          </a:xfrm>
          <a:custGeom>
            <a:avLst/>
            <a:gdLst/>
            <a:ahLst/>
            <a:cxnLst/>
            <a:rect l="l" t="t" r="r" b="b"/>
            <a:pathLst>
              <a:path w="4222619" h="8957386">
                <a:moveTo>
                  <a:pt x="0" y="0"/>
                </a:moveTo>
                <a:lnTo>
                  <a:pt x="4222619" y="0"/>
                </a:lnTo>
                <a:lnTo>
                  <a:pt x="4222619" y="8957387"/>
                </a:lnTo>
                <a:lnTo>
                  <a:pt x="0" y="89573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9" b="-29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982861" y="1023491"/>
            <a:ext cx="7088237" cy="885974"/>
            <a:chOff x="0" y="0"/>
            <a:chExt cx="9450983" cy="118129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450984" cy="1181298"/>
            </a:xfrm>
            <a:custGeom>
              <a:avLst/>
              <a:gdLst/>
              <a:ahLst/>
              <a:cxnLst/>
              <a:rect l="l" t="t" r="r" b="b"/>
              <a:pathLst>
                <a:path w="9450984" h="1181298">
                  <a:moveTo>
                    <a:pt x="0" y="0"/>
                  </a:moveTo>
                  <a:lnTo>
                    <a:pt x="9450984" y="0"/>
                  </a:lnTo>
                  <a:lnTo>
                    <a:pt x="9450984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9450983" cy="12003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3257B8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Project Flowchart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92238" y="2290199"/>
            <a:ext cx="12564516" cy="453629"/>
            <a:chOff x="0" y="0"/>
            <a:chExt cx="16752688" cy="60483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752689" cy="604838"/>
            </a:xfrm>
            <a:custGeom>
              <a:avLst/>
              <a:gdLst/>
              <a:ahLst/>
              <a:cxnLst/>
              <a:rect l="l" t="t" r="r" b="b"/>
              <a:pathLst>
                <a:path w="16752689" h="604838">
                  <a:moveTo>
                    <a:pt x="0" y="0"/>
                  </a:moveTo>
                  <a:lnTo>
                    <a:pt x="16752689" y="0"/>
                  </a:lnTo>
                  <a:lnTo>
                    <a:pt x="16752689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95250"/>
              <a:ext cx="16752688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Visual representation of project steps and data flow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F1F8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CFE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2238" y="2499866"/>
            <a:ext cx="7088237" cy="885974"/>
            <a:chOff x="0" y="0"/>
            <a:chExt cx="9450983" cy="11812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450984" cy="1181298"/>
            </a:xfrm>
            <a:custGeom>
              <a:avLst/>
              <a:gdLst/>
              <a:ahLst/>
              <a:cxnLst/>
              <a:rect l="l" t="t" r="r" b="b"/>
              <a:pathLst>
                <a:path w="9450984" h="1181298">
                  <a:moveTo>
                    <a:pt x="0" y="0"/>
                  </a:moveTo>
                  <a:lnTo>
                    <a:pt x="9450984" y="0"/>
                  </a:lnTo>
                  <a:lnTo>
                    <a:pt x="9450984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9450983" cy="12003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3257B8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Model Pipeline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92238" y="5086945"/>
            <a:ext cx="3756869" cy="283518"/>
            <a:chOff x="0" y="0"/>
            <a:chExt cx="5009158" cy="37802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009261" cy="378079"/>
            </a:xfrm>
            <a:custGeom>
              <a:avLst/>
              <a:gdLst/>
              <a:ahLst/>
              <a:cxnLst/>
              <a:rect l="l" t="t" r="r" b="b"/>
              <a:pathLst>
                <a:path w="5009261" h="378079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4952492" y="0"/>
                  </a:lnTo>
                  <a:cubicBezTo>
                    <a:pt x="4983861" y="0"/>
                    <a:pt x="5009261" y="25400"/>
                    <a:pt x="5009261" y="56769"/>
                  </a:cubicBezTo>
                  <a:lnTo>
                    <a:pt x="5009261" y="321310"/>
                  </a:lnTo>
                  <a:cubicBezTo>
                    <a:pt x="5009261" y="352679"/>
                    <a:pt x="4983861" y="378079"/>
                    <a:pt x="4952492" y="378079"/>
                  </a:cubicBezTo>
                  <a:lnTo>
                    <a:pt x="56769" y="378079"/>
                  </a:lnTo>
                  <a:cubicBezTo>
                    <a:pt x="25400" y="378079"/>
                    <a:pt x="0" y="352679"/>
                    <a:pt x="0" y="321310"/>
                  </a:cubicBezTo>
                  <a:close/>
                </a:path>
              </a:pathLst>
            </a:custGeom>
            <a:solidFill>
              <a:srgbClr val="E9ECF2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992238" y="5795665"/>
            <a:ext cx="3756869" cy="885825"/>
            <a:chOff x="0" y="0"/>
            <a:chExt cx="5009158" cy="11811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009158" cy="1181100"/>
            </a:xfrm>
            <a:custGeom>
              <a:avLst/>
              <a:gdLst/>
              <a:ahLst/>
              <a:cxnLst/>
              <a:rect l="l" t="t" r="r" b="b"/>
              <a:pathLst>
                <a:path w="5009158" h="1181100">
                  <a:moveTo>
                    <a:pt x="0" y="0"/>
                  </a:moveTo>
                  <a:lnTo>
                    <a:pt x="5009158" y="0"/>
                  </a:lnTo>
                  <a:lnTo>
                    <a:pt x="5009158" y="1181100"/>
                  </a:lnTo>
                  <a:lnTo>
                    <a:pt x="0" y="1181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5009158" cy="12001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15213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Data Merging &amp; Cleaning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92238" y="6851600"/>
            <a:ext cx="3756869" cy="907256"/>
            <a:chOff x="0" y="0"/>
            <a:chExt cx="5009158" cy="120967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009158" cy="1209675"/>
            </a:xfrm>
            <a:custGeom>
              <a:avLst/>
              <a:gdLst/>
              <a:ahLst/>
              <a:cxnLst/>
              <a:rect l="l" t="t" r="r" b="b"/>
              <a:pathLst>
                <a:path w="5009158" h="1209675">
                  <a:moveTo>
                    <a:pt x="0" y="0"/>
                  </a:moveTo>
                  <a:lnTo>
                    <a:pt x="5009158" y="0"/>
                  </a:lnTo>
                  <a:lnTo>
                    <a:pt x="5009158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95250"/>
              <a:ext cx="5009158" cy="130492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Combine datasets, select relevant columns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174308" y="4661595"/>
            <a:ext cx="3757018" cy="283518"/>
            <a:chOff x="0" y="0"/>
            <a:chExt cx="5009357" cy="37802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009388" cy="378079"/>
            </a:xfrm>
            <a:custGeom>
              <a:avLst/>
              <a:gdLst/>
              <a:ahLst/>
              <a:cxnLst/>
              <a:rect l="l" t="t" r="r" b="b"/>
              <a:pathLst>
                <a:path w="5009388" h="378079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4952619" y="0"/>
                  </a:lnTo>
                  <a:cubicBezTo>
                    <a:pt x="4983988" y="0"/>
                    <a:pt x="5009388" y="25400"/>
                    <a:pt x="5009388" y="56769"/>
                  </a:cubicBezTo>
                  <a:lnTo>
                    <a:pt x="5009388" y="321310"/>
                  </a:lnTo>
                  <a:cubicBezTo>
                    <a:pt x="5009388" y="352679"/>
                    <a:pt x="4983988" y="378079"/>
                    <a:pt x="4952619" y="378079"/>
                  </a:cubicBezTo>
                  <a:lnTo>
                    <a:pt x="56769" y="378079"/>
                  </a:lnTo>
                  <a:cubicBezTo>
                    <a:pt x="25400" y="378079"/>
                    <a:pt x="0" y="352679"/>
                    <a:pt x="0" y="321310"/>
                  </a:cubicBezTo>
                  <a:close/>
                </a:path>
              </a:pathLst>
            </a:custGeom>
            <a:solidFill>
              <a:srgbClr val="E9ECF2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5174308" y="5370314"/>
            <a:ext cx="3757018" cy="885825"/>
            <a:chOff x="0" y="0"/>
            <a:chExt cx="5009357" cy="11811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009357" cy="1181100"/>
            </a:xfrm>
            <a:custGeom>
              <a:avLst/>
              <a:gdLst/>
              <a:ahLst/>
              <a:cxnLst/>
              <a:rect l="l" t="t" r="r" b="b"/>
              <a:pathLst>
                <a:path w="5009357" h="1181100">
                  <a:moveTo>
                    <a:pt x="0" y="0"/>
                  </a:moveTo>
                  <a:lnTo>
                    <a:pt x="5009357" y="0"/>
                  </a:lnTo>
                  <a:lnTo>
                    <a:pt x="5009357" y="1181100"/>
                  </a:lnTo>
                  <a:lnTo>
                    <a:pt x="0" y="1181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5009357" cy="12001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15213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Preprocessing &amp; Feature Engineering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174308" y="6426250"/>
            <a:ext cx="3757018" cy="1360885"/>
            <a:chOff x="0" y="0"/>
            <a:chExt cx="5009357" cy="181451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009357" cy="1814513"/>
            </a:xfrm>
            <a:custGeom>
              <a:avLst/>
              <a:gdLst/>
              <a:ahLst/>
              <a:cxnLst/>
              <a:rect l="l" t="t" r="r" b="b"/>
              <a:pathLst>
                <a:path w="5009357" h="1814513">
                  <a:moveTo>
                    <a:pt x="0" y="0"/>
                  </a:moveTo>
                  <a:lnTo>
                    <a:pt x="5009357" y="0"/>
                  </a:lnTo>
                  <a:lnTo>
                    <a:pt x="5009357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95250"/>
              <a:ext cx="5009357" cy="19097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Parse JSON, remove spaces, apply stemming, combine tags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356526" y="4236244"/>
            <a:ext cx="3757018" cy="283517"/>
            <a:chOff x="0" y="0"/>
            <a:chExt cx="5009357" cy="37802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009388" cy="378079"/>
            </a:xfrm>
            <a:custGeom>
              <a:avLst/>
              <a:gdLst/>
              <a:ahLst/>
              <a:cxnLst/>
              <a:rect l="l" t="t" r="r" b="b"/>
              <a:pathLst>
                <a:path w="5009388" h="378079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4952619" y="0"/>
                  </a:lnTo>
                  <a:cubicBezTo>
                    <a:pt x="4983988" y="0"/>
                    <a:pt x="5009388" y="25400"/>
                    <a:pt x="5009388" y="56769"/>
                  </a:cubicBezTo>
                  <a:lnTo>
                    <a:pt x="5009388" y="321310"/>
                  </a:lnTo>
                  <a:cubicBezTo>
                    <a:pt x="5009388" y="352679"/>
                    <a:pt x="4983988" y="378079"/>
                    <a:pt x="4952619" y="378079"/>
                  </a:cubicBezTo>
                  <a:lnTo>
                    <a:pt x="56769" y="378079"/>
                  </a:lnTo>
                  <a:cubicBezTo>
                    <a:pt x="25400" y="378079"/>
                    <a:pt x="0" y="352679"/>
                    <a:pt x="0" y="321310"/>
                  </a:cubicBezTo>
                  <a:close/>
                </a:path>
              </a:pathLst>
            </a:custGeom>
            <a:solidFill>
              <a:srgbClr val="E9ECF2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9356526" y="4944964"/>
            <a:ext cx="3544044" cy="442912"/>
            <a:chOff x="0" y="0"/>
            <a:chExt cx="4725392" cy="59055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4725392" cy="6096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15213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Text Vectorization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356526" y="5557986"/>
            <a:ext cx="3757018" cy="1360885"/>
            <a:chOff x="0" y="0"/>
            <a:chExt cx="5009357" cy="1814513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009357" cy="1814513"/>
            </a:xfrm>
            <a:custGeom>
              <a:avLst/>
              <a:gdLst/>
              <a:ahLst/>
              <a:cxnLst/>
              <a:rect l="l" t="t" r="r" b="b"/>
              <a:pathLst>
                <a:path w="5009357" h="1814513">
                  <a:moveTo>
                    <a:pt x="0" y="0"/>
                  </a:moveTo>
                  <a:lnTo>
                    <a:pt x="5009357" y="0"/>
                  </a:lnTo>
                  <a:lnTo>
                    <a:pt x="5009357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95250"/>
              <a:ext cx="5009357" cy="19097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CountVectorizer with max 5000 features, exclude stopwords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3538746" y="3811041"/>
            <a:ext cx="3757017" cy="283517"/>
            <a:chOff x="0" y="0"/>
            <a:chExt cx="5009357" cy="37802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009388" cy="378079"/>
            </a:xfrm>
            <a:custGeom>
              <a:avLst/>
              <a:gdLst/>
              <a:ahLst/>
              <a:cxnLst/>
              <a:rect l="l" t="t" r="r" b="b"/>
              <a:pathLst>
                <a:path w="5009388" h="378079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4952619" y="0"/>
                  </a:lnTo>
                  <a:cubicBezTo>
                    <a:pt x="4983988" y="0"/>
                    <a:pt x="5009388" y="25400"/>
                    <a:pt x="5009388" y="56769"/>
                  </a:cubicBezTo>
                  <a:lnTo>
                    <a:pt x="5009388" y="321310"/>
                  </a:lnTo>
                  <a:cubicBezTo>
                    <a:pt x="5009388" y="352679"/>
                    <a:pt x="4983988" y="378079"/>
                    <a:pt x="4952619" y="378079"/>
                  </a:cubicBezTo>
                  <a:lnTo>
                    <a:pt x="56769" y="378079"/>
                  </a:lnTo>
                  <a:cubicBezTo>
                    <a:pt x="25400" y="378079"/>
                    <a:pt x="0" y="352679"/>
                    <a:pt x="0" y="321310"/>
                  </a:cubicBezTo>
                  <a:close/>
                </a:path>
              </a:pathLst>
            </a:custGeom>
            <a:solidFill>
              <a:srgbClr val="E9ECF2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13538746" y="4519761"/>
            <a:ext cx="3757017" cy="885825"/>
            <a:chOff x="0" y="0"/>
            <a:chExt cx="5009357" cy="11811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009357" cy="1181100"/>
            </a:xfrm>
            <a:custGeom>
              <a:avLst/>
              <a:gdLst/>
              <a:ahLst/>
              <a:cxnLst/>
              <a:rect l="l" t="t" r="r" b="b"/>
              <a:pathLst>
                <a:path w="5009357" h="1181100">
                  <a:moveTo>
                    <a:pt x="0" y="0"/>
                  </a:moveTo>
                  <a:lnTo>
                    <a:pt x="5009357" y="0"/>
                  </a:lnTo>
                  <a:lnTo>
                    <a:pt x="5009357" y="1181100"/>
                  </a:lnTo>
                  <a:lnTo>
                    <a:pt x="0" y="1181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19050"/>
              <a:ext cx="5009357" cy="12001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15213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Similarity Computation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3538746" y="5575697"/>
            <a:ext cx="3757017" cy="907256"/>
            <a:chOff x="0" y="0"/>
            <a:chExt cx="5009357" cy="120967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009357" cy="1209675"/>
            </a:xfrm>
            <a:custGeom>
              <a:avLst/>
              <a:gdLst/>
              <a:ahLst/>
              <a:cxnLst/>
              <a:rect l="l" t="t" r="r" b="b"/>
              <a:pathLst>
                <a:path w="5009357" h="1209675">
                  <a:moveTo>
                    <a:pt x="0" y="0"/>
                  </a:moveTo>
                  <a:lnTo>
                    <a:pt x="5009357" y="0"/>
                  </a:lnTo>
                  <a:lnTo>
                    <a:pt x="5009357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0" y="-95250"/>
              <a:ext cx="5009357" cy="130492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Cosine similarity to find top 5 movie matches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F1F8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CFE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2238" y="1777752"/>
            <a:ext cx="12418962" cy="900262"/>
            <a:chOff x="0" y="-19051"/>
            <a:chExt cx="16558616" cy="120034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537877" cy="1181298"/>
            </a:xfrm>
            <a:custGeom>
              <a:avLst/>
              <a:gdLst/>
              <a:ahLst/>
              <a:cxnLst/>
              <a:rect l="l" t="t" r="r" b="b"/>
              <a:pathLst>
                <a:path w="12537877" h="1181298">
                  <a:moveTo>
                    <a:pt x="0" y="0"/>
                  </a:moveTo>
                  <a:lnTo>
                    <a:pt x="12537877" y="0"/>
                  </a:lnTo>
                  <a:lnTo>
                    <a:pt x="12537877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1"/>
              <a:ext cx="16558616" cy="120034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937"/>
                </a:lnSpc>
              </a:pPr>
              <a:r>
                <a:rPr lang="en-US" sz="5562" dirty="0">
                  <a:solidFill>
                    <a:srgbClr val="3257B8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Cosine Similarity Algorithm</a:t>
              </a:r>
            </a:p>
          </p:txBody>
        </p:sp>
      </p:grpSp>
      <p:sp>
        <p:nvSpPr>
          <p:cNvPr id="9" name="Freeform 9" descr="preencoded.png"/>
          <p:cNvSpPr/>
          <p:nvPr/>
        </p:nvSpPr>
        <p:spPr>
          <a:xfrm>
            <a:off x="992238" y="3152775"/>
            <a:ext cx="708720" cy="708720"/>
          </a:xfrm>
          <a:custGeom>
            <a:avLst/>
            <a:gdLst/>
            <a:ahLst/>
            <a:cxnLst/>
            <a:rect l="l" t="t" r="r" b="b"/>
            <a:pathLst>
              <a:path w="708720" h="708720">
                <a:moveTo>
                  <a:pt x="0" y="0"/>
                </a:moveTo>
                <a:lnTo>
                  <a:pt x="708719" y="0"/>
                </a:lnTo>
                <a:lnTo>
                  <a:pt x="708719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984474" y="3271540"/>
            <a:ext cx="3544044" cy="442912"/>
            <a:chOff x="0" y="0"/>
            <a:chExt cx="4725392" cy="5905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4725392" cy="6096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 dirty="0">
                  <a:solidFill>
                    <a:srgbClr val="15213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Definition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984474" y="3884562"/>
            <a:ext cx="15311289" cy="453629"/>
            <a:chOff x="0" y="0"/>
            <a:chExt cx="20415052" cy="60483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415052" cy="604838"/>
            </a:xfrm>
            <a:custGeom>
              <a:avLst/>
              <a:gdLst/>
              <a:ahLst/>
              <a:cxnLst/>
              <a:rect l="l" t="t" r="r" b="b"/>
              <a:pathLst>
                <a:path w="20415052" h="604838">
                  <a:moveTo>
                    <a:pt x="0" y="0"/>
                  </a:moveTo>
                  <a:lnTo>
                    <a:pt x="20415052" y="0"/>
                  </a:lnTo>
                  <a:lnTo>
                    <a:pt x="20415052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95250"/>
              <a:ext cx="20415052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Measures similarity between two vectors</a:t>
              </a:r>
            </a:p>
          </p:txBody>
        </p:sp>
      </p:grpSp>
      <p:sp>
        <p:nvSpPr>
          <p:cNvPr id="16" name="Freeform 16" descr="preencoded.png"/>
          <p:cNvSpPr/>
          <p:nvPr/>
        </p:nvSpPr>
        <p:spPr>
          <a:xfrm>
            <a:off x="992238" y="4954786"/>
            <a:ext cx="708720" cy="708720"/>
          </a:xfrm>
          <a:custGeom>
            <a:avLst/>
            <a:gdLst/>
            <a:ahLst/>
            <a:cxnLst/>
            <a:rect l="l" t="t" r="r" b="b"/>
            <a:pathLst>
              <a:path w="708720" h="708720">
                <a:moveTo>
                  <a:pt x="0" y="0"/>
                </a:moveTo>
                <a:lnTo>
                  <a:pt x="708719" y="0"/>
                </a:lnTo>
                <a:lnTo>
                  <a:pt x="708719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1984474" y="5073551"/>
            <a:ext cx="3544044" cy="442912"/>
            <a:chOff x="0" y="0"/>
            <a:chExt cx="4725392" cy="5905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4725392" cy="6096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15213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Range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984474" y="5686574"/>
            <a:ext cx="15311289" cy="453629"/>
            <a:chOff x="0" y="0"/>
            <a:chExt cx="20415052" cy="60483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0415052" cy="604838"/>
            </a:xfrm>
            <a:custGeom>
              <a:avLst/>
              <a:gdLst/>
              <a:ahLst/>
              <a:cxnLst/>
              <a:rect l="l" t="t" r="r" b="b"/>
              <a:pathLst>
                <a:path w="20415052" h="604838">
                  <a:moveTo>
                    <a:pt x="0" y="0"/>
                  </a:moveTo>
                  <a:lnTo>
                    <a:pt x="20415052" y="0"/>
                  </a:lnTo>
                  <a:lnTo>
                    <a:pt x="20415052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95250"/>
              <a:ext cx="20415052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From 0 (no similarity) to 1 (identical)</a:t>
              </a:r>
            </a:p>
          </p:txBody>
        </p:sp>
      </p:grpSp>
      <p:sp>
        <p:nvSpPr>
          <p:cNvPr id="23" name="Freeform 23" descr="preencoded.png"/>
          <p:cNvSpPr/>
          <p:nvPr/>
        </p:nvSpPr>
        <p:spPr>
          <a:xfrm>
            <a:off x="992238" y="6756798"/>
            <a:ext cx="708720" cy="708720"/>
          </a:xfrm>
          <a:custGeom>
            <a:avLst/>
            <a:gdLst/>
            <a:ahLst/>
            <a:cxnLst/>
            <a:rect l="l" t="t" r="r" b="b"/>
            <a:pathLst>
              <a:path w="708720" h="708720">
                <a:moveTo>
                  <a:pt x="0" y="0"/>
                </a:moveTo>
                <a:lnTo>
                  <a:pt x="708719" y="0"/>
                </a:lnTo>
                <a:lnTo>
                  <a:pt x="708719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1984474" y="6875561"/>
            <a:ext cx="3544044" cy="442912"/>
            <a:chOff x="0" y="0"/>
            <a:chExt cx="4725392" cy="59055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4725392" cy="6096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15213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Advantages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984474" y="7488585"/>
            <a:ext cx="15311289" cy="453629"/>
            <a:chOff x="0" y="0"/>
            <a:chExt cx="20415052" cy="60483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0415052" cy="604838"/>
            </a:xfrm>
            <a:custGeom>
              <a:avLst/>
              <a:gdLst/>
              <a:ahLst/>
              <a:cxnLst/>
              <a:rect l="l" t="t" r="r" b="b"/>
              <a:pathLst>
                <a:path w="20415052" h="604838">
                  <a:moveTo>
                    <a:pt x="0" y="0"/>
                  </a:moveTo>
                  <a:lnTo>
                    <a:pt x="20415052" y="0"/>
                  </a:lnTo>
                  <a:lnTo>
                    <a:pt x="20415052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95250"/>
              <a:ext cx="20415052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Works well on sparse text data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984474" y="8041332"/>
            <a:ext cx="15311289" cy="453629"/>
            <a:chOff x="0" y="0"/>
            <a:chExt cx="20415052" cy="60483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0415052" cy="604838"/>
            </a:xfrm>
            <a:custGeom>
              <a:avLst/>
              <a:gdLst/>
              <a:ahLst/>
              <a:cxnLst/>
              <a:rect l="l" t="t" r="r" b="b"/>
              <a:pathLst>
                <a:path w="20415052" h="604838">
                  <a:moveTo>
                    <a:pt x="0" y="0"/>
                  </a:moveTo>
                  <a:lnTo>
                    <a:pt x="20415052" y="0"/>
                  </a:lnTo>
                  <a:lnTo>
                    <a:pt x="20415052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95250"/>
              <a:ext cx="20415052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Ignores vector magnitude, compares direction</a:t>
              </a:r>
            </a:p>
          </p:txBody>
        </p:sp>
      </p:grpSp>
      <p:pic>
        <p:nvPicPr>
          <p:cNvPr id="34" name="Picture 33" descr="A diagram of different types of angles&#10;&#10;AI-generated content may be incorrect.">
            <a:extLst>
              <a:ext uri="{FF2B5EF4-FFF2-40B4-BE49-F238E27FC236}">
                <a16:creationId xmlns:a16="http://schemas.microsoft.com/office/drawing/2014/main" id="{1556C7F5-44E9-4D02-B14E-DF187F4D315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42"/>
          <a:stretch/>
        </p:blipFill>
        <p:spPr>
          <a:xfrm>
            <a:off x="8870949" y="3389037"/>
            <a:ext cx="8708330" cy="39294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F1F8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CFE"/>
            </a:solidFill>
          </p:spPr>
        </p:sp>
      </p:grpSp>
      <p:sp>
        <p:nvSpPr>
          <p:cNvPr id="6" name="Freeform 6" descr="preencoded.png"/>
          <p:cNvSpPr/>
          <p:nvPr/>
        </p:nvSpPr>
        <p:spPr>
          <a:xfrm>
            <a:off x="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7850237" y="2044601"/>
            <a:ext cx="9445526" cy="1771947"/>
            <a:chOff x="0" y="0"/>
            <a:chExt cx="12594035" cy="236259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594035" cy="2362597"/>
            </a:xfrm>
            <a:custGeom>
              <a:avLst/>
              <a:gdLst/>
              <a:ahLst/>
              <a:cxnLst/>
              <a:rect l="l" t="t" r="r" b="b"/>
              <a:pathLst>
                <a:path w="12594035" h="2362597">
                  <a:moveTo>
                    <a:pt x="0" y="0"/>
                  </a:moveTo>
                  <a:lnTo>
                    <a:pt x="12594035" y="0"/>
                  </a:lnTo>
                  <a:lnTo>
                    <a:pt x="12594035" y="2362597"/>
                  </a:lnTo>
                  <a:lnTo>
                    <a:pt x="0" y="23625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12594035" cy="238164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3257B8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Web App Deployment - Streamlit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850237" y="4241750"/>
            <a:ext cx="637877" cy="637878"/>
            <a:chOff x="0" y="0"/>
            <a:chExt cx="850503" cy="85050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50392" cy="850519"/>
            </a:xfrm>
            <a:custGeom>
              <a:avLst/>
              <a:gdLst/>
              <a:ahLst/>
              <a:cxnLst/>
              <a:rect l="l" t="t" r="r" b="b"/>
              <a:pathLst>
                <a:path w="850392" h="85051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E9ECF2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7956575" y="4294882"/>
            <a:ext cx="425203" cy="531614"/>
            <a:chOff x="0" y="0"/>
            <a:chExt cx="566937" cy="70881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66937" cy="708818"/>
            </a:xfrm>
            <a:custGeom>
              <a:avLst/>
              <a:gdLst/>
              <a:ahLst/>
              <a:cxnLst/>
              <a:rect l="l" t="t" r="r" b="b"/>
              <a:pathLst>
                <a:path w="566937" h="708818">
                  <a:moveTo>
                    <a:pt x="0" y="0"/>
                  </a:moveTo>
                  <a:lnTo>
                    <a:pt x="566937" y="0"/>
                  </a:lnTo>
                  <a:lnTo>
                    <a:pt x="566937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57150"/>
              <a:ext cx="566937" cy="65166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312"/>
                </a:lnSpc>
              </a:pPr>
              <a:r>
                <a:rPr lang="en-US" sz="3312">
                  <a:solidFill>
                    <a:srgbClr val="15213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771632" y="4339084"/>
            <a:ext cx="3544044" cy="442912"/>
            <a:chOff x="0" y="0"/>
            <a:chExt cx="4725392" cy="5905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4725392" cy="6096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15213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User Flow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771632" y="4952108"/>
            <a:ext cx="8524131" cy="453629"/>
            <a:chOff x="0" y="0"/>
            <a:chExt cx="11365508" cy="60483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365509" cy="604838"/>
            </a:xfrm>
            <a:custGeom>
              <a:avLst/>
              <a:gdLst/>
              <a:ahLst/>
              <a:cxnLst/>
              <a:rect l="l" t="t" r="r" b="b"/>
              <a:pathLst>
                <a:path w="11365509" h="604838">
                  <a:moveTo>
                    <a:pt x="0" y="0"/>
                  </a:moveTo>
                  <a:lnTo>
                    <a:pt x="11365509" y="0"/>
                  </a:lnTo>
                  <a:lnTo>
                    <a:pt x="11365509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95250"/>
              <a:ext cx="11365508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Enter movie title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771632" y="5504855"/>
            <a:ext cx="8524131" cy="453629"/>
            <a:chOff x="0" y="0"/>
            <a:chExt cx="11365508" cy="60483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1365509" cy="604838"/>
            </a:xfrm>
            <a:custGeom>
              <a:avLst/>
              <a:gdLst/>
              <a:ahLst/>
              <a:cxnLst/>
              <a:rect l="l" t="t" r="r" b="b"/>
              <a:pathLst>
                <a:path w="11365509" h="604838">
                  <a:moveTo>
                    <a:pt x="0" y="0"/>
                  </a:moveTo>
                  <a:lnTo>
                    <a:pt x="11365509" y="0"/>
                  </a:lnTo>
                  <a:lnTo>
                    <a:pt x="11365509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95250"/>
              <a:ext cx="11365508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Receive top 5 similar movies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850237" y="6525517"/>
            <a:ext cx="637877" cy="637877"/>
            <a:chOff x="0" y="0"/>
            <a:chExt cx="850503" cy="85050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50392" cy="850519"/>
            </a:xfrm>
            <a:custGeom>
              <a:avLst/>
              <a:gdLst/>
              <a:ahLst/>
              <a:cxnLst/>
              <a:rect l="l" t="t" r="r" b="b"/>
              <a:pathLst>
                <a:path w="850392" h="85051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E9ECF2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7956575" y="6578650"/>
            <a:ext cx="425203" cy="531614"/>
            <a:chOff x="0" y="0"/>
            <a:chExt cx="566937" cy="70881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66937" cy="708818"/>
            </a:xfrm>
            <a:custGeom>
              <a:avLst/>
              <a:gdLst/>
              <a:ahLst/>
              <a:cxnLst/>
              <a:rect l="l" t="t" r="r" b="b"/>
              <a:pathLst>
                <a:path w="566937" h="708818">
                  <a:moveTo>
                    <a:pt x="0" y="0"/>
                  </a:moveTo>
                  <a:lnTo>
                    <a:pt x="566937" y="0"/>
                  </a:lnTo>
                  <a:lnTo>
                    <a:pt x="566937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57150"/>
              <a:ext cx="566937" cy="65166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312"/>
                </a:lnSpc>
              </a:pPr>
              <a:r>
                <a:rPr lang="en-US" sz="3312">
                  <a:solidFill>
                    <a:srgbClr val="15213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771632" y="6622851"/>
            <a:ext cx="3544044" cy="442912"/>
            <a:chOff x="0" y="0"/>
            <a:chExt cx="4725392" cy="59055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19050"/>
              <a:ext cx="4725392" cy="6096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15213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Implementation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771632" y="7235875"/>
            <a:ext cx="8524131" cy="453629"/>
            <a:chOff x="0" y="0"/>
            <a:chExt cx="11365508" cy="60483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1365509" cy="604838"/>
            </a:xfrm>
            <a:custGeom>
              <a:avLst/>
              <a:gdLst/>
              <a:ahLst/>
              <a:cxnLst/>
              <a:rect l="l" t="t" r="r" b="b"/>
              <a:pathLst>
                <a:path w="11365509" h="604838">
                  <a:moveTo>
                    <a:pt x="0" y="0"/>
                  </a:moveTo>
                  <a:lnTo>
                    <a:pt x="11365509" y="0"/>
                  </a:lnTo>
                  <a:lnTo>
                    <a:pt x="11365509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95250"/>
              <a:ext cx="11365508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Pickled model files for fast access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771632" y="7788622"/>
            <a:ext cx="8524131" cy="453629"/>
            <a:chOff x="0" y="0"/>
            <a:chExt cx="11365508" cy="60483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1365509" cy="604838"/>
            </a:xfrm>
            <a:custGeom>
              <a:avLst/>
              <a:gdLst/>
              <a:ahLst/>
              <a:cxnLst/>
              <a:rect l="l" t="t" r="r" b="b"/>
              <a:pathLst>
                <a:path w="11365509" h="604838">
                  <a:moveTo>
                    <a:pt x="0" y="0"/>
                  </a:moveTo>
                  <a:lnTo>
                    <a:pt x="11365509" y="0"/>
                  </a:lnTo>
                  <a:lnTo>
                    <a:pt x="11365509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95250"/>
              <a:ext cx="11365508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Simple, interactive interface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F1F8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CFE"/>
            </a:solidFill>
          </p:spPr>
        </p:sp>
      </p:grpSp>
      <p:sp>
        <p:nvSpPr>
          <p:cNvPr id="6" name="Freeform 6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992238" y="1592609"/>
            <a:ext cx="10209162" cy="900262"/>
            <a:chOff x="0" y="-19051"/>
            <a:chExt cx="13612216" cy="120034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873905" cy="1181298"/>
            </a:xfrm>
            <a:custGeom>
              <a:avLst/>
              <a:gdLst/>
              <a:ahLst/>
              <a:cxnLst/>
              <a:rect l="l" t="t" r="r" b="b"/>
              <a:pathLst>
                <a:path w="11873905" h="1181298">
                  <a:moveTo>
                    <a:pt x="0" y="0"/>
                  </a:moveTo>
                  <a:lnTo>
                    <a:pt x="11873905" y="0"/>
                  </a:lnTo>
                  <a:lnTo>
                    <a:pt x="11873905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19051"/>
              <a:ext cx="13612216" cy="120034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937"/>
                </a:lnSpc>
              </a:pPr>
              <a:r>
                <a:rPr lang="en-US" sz="5562" dirty="0">
                  <a:solidFill>
                    <a:srgbClr val="3257B8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Conclusion &amp; Future Scope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92238" y="2918072"/>
            <a:ext cx="9445526" cy="2739181"/>
            <a:chOff x="0" y="0"/>
            <a:chExt cx="12594035" cy="365224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594082" cy="3652266"/>
            </a:xfrm>
            <a:custGeom>
              <a:avLst/>
              <a:gdLst/>
              <a:ahLst/>
              <a:cxnLst/>
              <a:rect l="l" t="t" r="r" b="b"/>
              <a:pathLst>
                <a:path w="12594082" h="3652266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2537313" y="0"/>
                  </a:lnTo>
                  <a:cubicBezTo>
                    <a:pt x="12568682" y="0"/>
                    <a:pt x="12594082" y="25400"/>
                    <a:pt x="12594082" y="56769"/>
                  </a:cubicBezTo>
                  <a:lnTo>
                    <a:pt x="12594082" y="3595497"/>
                  </a:lnTo>
                  <a:cubicBezTo>
                    <a:pt x="12594082" y="3626866"/>
                    <a:pt x="12568682" y="3652266"/>
                    <a:pt x="12537313" y="3652266"/>
                  </a:cubicBezTo>
                  <a:lnTo>
                    <a:pt x="56769" y="3652266"/>
                  </a:lnTo>
                  <a:cubicBezTo>
                    <a:pt x="25400" y="3652266"/>
                    <a:pt x="0" y="3626866"/>
                    <a:pt x="0" y="3595497"/>
                  </a:cubicBezTo>
                  <a:close/>
                </a:path>
              </a:pathLst>
            </a:custGeom>
            <a:solidFill>
              <a:srgbClr val="E9ECF2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275755" y="3201591"/>
            <a:ext cx="3544044" cy="442912"/>
            <a:chOff x="0" y="0"/>
            <a:chExt cx="4725392" cy="5905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725392" cy="590550"/>
            </a:xfrm>
            <a:custGeom>
              <a:avLst/>
              <a:gdLst/>
              <a:ahLst/>
              <a:cxnLst/>
              <a:rect l="l" t="t" r="r" b="b"/>
              <a:pathLst>
                <a:path w="4725392" h="590550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4725392" cy="6096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15213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Conclusion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75755" y="3814614"/>
            <a:ext cx="8878491" cy="453629"/>
            <a:chOff x="0" y="0"/>
            <a:chExt cx="11837988" cy="60483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837988" cy="604838"/>
            </a:xfrm>
            <a:custGeom>
              <a:avLst/>
              <a:gdLst/>
              <a:ahLst/>
              <a:cxnLst/>
              <a:rect l="l" t="t" r="r" b="b"/>
              <a:pathLst>
                <a:path w="11837988" h="604838">
                  <a:moveTo>
                    <a:pt x="0" y="0"/>
                  </a:moveTo>
                  <a:lnTo>
                    <a:pt x="11837988" y="0"/>
                  </a:lnTo>
                  <a:lnTo>
                    <a:pt x="1183798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0"/>
              <a:ext cx="11837988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Built effective content-based recommender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75755" y="4367361"/>
            <a:ext cx="8878491" cy="453629"/>
            <a:chOff x="0" y="0"/>
            <a:chExt cx="11837988" cy="60483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837988" cy="604838"/>
            </a:xfrm>
            <a:custGeom>
              <a:avLst/>
              <a:gdLst/>
              <a:ahLst/>
              <a:cxnLst/>
              <a:rect l="l" t="t" r="r" b="b"/>
              <a:pathLst>
                <a:path w="11837988" h="604838">
                  <a:moveTo>
                    <a:pt x="0" y="0"/>
                  </a:moveTo>
                  <a:lnTo>
                    <a:pt x="11837988" y="0"/>
                  </a:lnTo>
                  <a:lnTo>
                    <a:pt x="1183798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95250"/>
              <a:ext cx="11837988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Applied NLP and cosine similarity successfully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75755" y="4920109"/>
            <a:ext cx="8878491" cy="453629"/>
            <a:chOff x="0" y="0"/>
            <a:chExt cx="11837988" cy="60483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1837988" cy="604838"/>
            </a:xfrm>
            <a:custGeom>
              <a:avLst/>
              <a:gdLst/>
              <a:ahLst/>
              <a:cxnLst/>
              <a:rect l="l" t="t" r="r" b="b"/>
              <a:pathLst>
                <a:path w="11837988" h="604838">
                  <a:moveTo>
                    <a:pt x="0" y="0"/>
                  </a:moveTo>
                  <a:lnTo>
                    <a:pt x="11837988" y="0"/>
                  </a:lnTo>
                  <a:lnTo>
                    <a:pt x="1183798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95250"/>
              <a:ext cx="11837988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Deployed with Streamlit UI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92238" y="5940772"/>
            <a:ext cx="9445526" cy="2739181"/>
            <a:chOff x="0" y="0"/>
            <a:chExt cx="12594035" cy="365224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594082" cy="3652266"/>
            </a:xfrm>
            <a:custGeom>
              <a:avLst/>
              <a:gdLst/>
              <a:ahLst/>
              <a:cxnLst/>
              <a:rect l="l" t="t" r="r" b="b"/>
              <a:pathLst>
                <a:path w="12594082" h="3652266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2537313" y="0"/>
                  </a:lnTo>
                  <a:cubicBezTo>
                    <a:pt x="12568682" y="0"/>
                    <a:pt x="12594082" y="25400"/>
                    <a:pt x="12594082" y="56769"/>
                  </a:cubicBezTo>
                  <a:lnTo>
                    <a:pt x="12594082" y="3595497"/>
                  </a:lnTo>
                  <a:cubicBezTo>
                    <a:pt x="12594082" y="3626866"/>
                    <a:pt x="12568682" y="3652266"/>
                    <a:pt x="12537313" y="3652266"/>
                  </a:cubicBezTo>
                  <a:lnTo>
                    <a:pt x="56769" y="3652266"/>
                  </a:lnTo>
                  <a:cubicBezTo>
                    <a:pt x="25400" y="3652266"/>
                    <a:pt x="0" y="3626866"/>
                    <a:pt x="0" y="3595497"/>
                  </a:cubicBezTo>
                  <a:close/>
                </a:path>
              </a:pathLst>
            </a:custGeom>
            <a:solidFill>
              <a:srgbClr val="E9ECF2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275755" y="6224290"/>
            <a:ext cx="3624114" cy="442912"/>
            <a:chOff x="0" y="0"/>
            <a:chExt cx="4832152" cy="59055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832152" cy="590550"/>
            </a:xfrm>
            <a:custGeom>
              <a:avLst/>
              <a:gdLst/>
              <a:ahLst/>
              <a:cxnLst/>
              <a:rect l="l" t="t" r="r" b="b"/>
              <a:pathLst>
                <a:path w="4832152" h="590550">
                  <a:moveTo>
                    <a:pt x="0" y="0"/>
                  </a:moveTo>
                  <a:lnTo>
                    <a:pt x="4832152" y="0"/>
                  </a:lnTo>
                  <a:lnTo>
                    <a:pt x="483215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4832152" cy="6096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15213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Future Improvements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275755" y="6837312"/>
            <a:ext cx="8878491" cy="453629"/>
            <a:chOff x="0" y="0"/>
            <a:chExt cx="11837988" cy="60483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1837988" cy="604838"/>
            </a:xfrm>
            <a:custGeom>
              <a:avLst/>
              <a:gdLst/>
              <a:ahLst/>
              <a:cxnLst/>
              <a:rect l="l" t="t" r="r" b="b"/>
              <a:pathLst>
                <a:path w="11837988" h="604838">
                  <a:moveTo>
                    <a:pt x="0" y="0"/>
                  </a:moveTo>
                  <a:lnTo>
                    <a:pt x="11837988" y="0"/>
                  </a:lnTo>
                  <a:lnTo>
                    <a:pt x="1183798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95250"/>
              <a:ext cx="11837988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Add collaborative filtering for personalization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75755" y="7390060"/>
            <a:ext cx="8878491" cy="453629"/>
            <a:chOff x="0" y="0"/>
            <a:chExt cx="11837988" cy="60483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1837988" cy="604838"/>
            </a:xfrm>
            <a:custGeom>
              <a:avLst/>
              <a:gdLst/>
              <a:ahLst/>
              <a:cxnLst/>
              <a:rect l="l" t="t" r="r" b="b"/>
              <a:pathLst>
                <a:path w="11837988" h="604838">
                  <a:moveTo>
                    <a:pt x="0" y="0"/>
                  </a:moveTo>
                  <a:lnTo>
                    <a:pt x="11837988" y="0"/>
                  </a:lnTo>
                  <a:lnTo>
                    <a:pt x="1183798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95250"/>
              <a:ext cx="11837988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Integrate user preferences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275755" y="7942809"/>
            <a:ext cx="8878491" cy="453629"/>
            <a:chOff x="0" y="0"/>
            <a:chExt cx="11837988" cy="60483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1837988" cy="604838"/>
            </a:xfrm>
            <a:custGeom>
              <a:avLst/>
              <a:gdLst/>
              <a:ahLst/>
              <a:cxnLst/>
              <a:rect l="l" t="t" r="r" b="b"/>
              <a:pathLst>
                <a:path w="11837988" h="604838">
                  <a:moveTo>
                    <a:pt x="0" y="0"/>
                  </a:moveTo>
                  <a:lnTo>
                    <a:pt x="11837988" y="0"/>
                  </a:lnTo>
                  <a:lnTo>
                    <a:pt x="1183798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95250"/>
              <a:ext cx="11837988" cy="7000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Incorporate advanced NLP models: TF-IDF, BERT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292</Words>
  <Application>Microsoft Office PowerPoint</Application>
  <PresentationFormat>Custom</PresentationFormat>
  <Paragraphs>86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Roboto</vt:lpstr>
      <vt:lpstr>Arial</vt:lpstr>
      <vt:lpstr>Roboto Slab</vt:lpstr>
      <vt:lpstr>Roboto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Movie-Recommender-System.pptx</dc:title>
  <dc:creator>PMYLS</dc:creator>
  <cp:lastModifiedBy>Laiqa</cp:lastModifiedBy>
  <cp:revision>6</cp:revision>
  <dcterms:created xsi:type="dcterms:W3CDTF">2006-08-16T00:00:00Z</dcterms:created>
  <dcterms:modified xsi:type="dcterms:W3CDTF">2026-08-25T09:56:50Z</dcterms:modified>
  <dc:identifier>DAGmmd-yJLU</dc:identifier>
</cp:coreProperties>
</file>